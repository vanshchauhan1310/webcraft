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Barlow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Barlow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19" Type="http://schemas.openxmlformats.org/officeDocument/2006/relationships/font" Target="fonts/Barlow-bold.fntdata"/><Relationship Id="rId6" Type="http://schemas.openxmlformats.org/officeDocument/2006/relationships/slide" Target="slides/slide2.xml"/><Relationship Id="rId18" Type="http://schemas.openxmlformats.org/officeDocument/2006/relationships/font" Target="fonts/Barlow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odejs.org/en/download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localhost:300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44709" y="2573774"/>
            <a:ext cx="7627382" cy="24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40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7850"/>
              <a:buFont typeface="Barlow"/>
              <a:buNone/>
            </a:pPr>
            <a:r>
              <a:rPr b="1" i="0" lang="en-US" sz="78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Node.js for Developers</a:t>
            </a:r>
            <a:endParaRPr b="0" i="0" sz="78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44709" y="5352455"/>
            <a:ext cx="7627382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A Comprehensive Guide for Those New to the JavaScript Runtime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717113" y="493038"/>
            <a:ext cx="4717971" cy="589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700"/>
              <a:buFont typeface="Barlow"/>
              <a:buNone/>
            </a:pPr>
            <a:r>
              <a:rPr b="1" i="0" lang="en-US" sz="37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What is Node.js?</a:t>
            </a:r>
            <a:endParaRPr b="0" i="0" sz="370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717113" y="1512927"/>
            <a:ext cx="6379369" cy="11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Node.js is an open-source, cross-platform JavaScript runtime environment. It allows developers to execute JavaScript code outside of a web browser, primarily on the server-side. Built on Chrome's V8 JavaScript engine, Node.js is exceptionally fast and efficient.</a:t>
            </a:r>
            <a:endParaRPr b="0" i="0" sz="14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717113" y="2821543"/>
            <a:ext cx="6379369" cy="11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This innovative technology bridges the gap, enabling full-stack JavaScript development where both front-end and back-end logic can be written in a single language. This consistency streamlines development workflows and reduces cognitive load for teams.</a:t>
            </a:r>
            <a:endParaRPr b="0" i="0" sz="1400" u="none" cap="none" strike="noStrike"/>
          </a:p>
        </p:txBody>
      </p:sp>
      <p:pic>
        <p:nvPicPr>
          <p:cNvPr descr="preencoded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538" y="1553289"/>
            <a:ext cx="6379369" cy="6379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758309" y="2278618"/>
            <a:ext cx="4988838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900"/>
              <a:buFont typeface="Barlow"/>
              <a:buNone/>
            </a:pPr>
            <a:r>
              <a:rPr b="1" i="0" lang="en-US" sz="39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Why Choose Node.js?</a:t>
            </a:r>
            <a:endParaRPr b="0" i="0" sz="3900" u="none" cap="none" strike="noStrike"/>
          </a:p>
        </p:txBody>
      </p:sp>
      <p:sp>
        <p:nvSpPr>
          <p:cNvPr id="74" name="Google Shape;74;p15"/>
          <p:cNvSpPr/>
          <p:nvPr/>
        </p:nvSpPr>
        <p:spPr>
          <a:xfrm>
            <a:off x="758309" y="3281243"/>
            <a:ext cx="4244816" cy="2669738"/>
          </a:xfrm>
          <a:prstGeom prst="roundRect">
            <a:avLst>
              <a:gd fmla="val 4110" name="adj"/>
            </a:avLst>
          </a:prstGeom>
          <a:noFill/>
          <a:ln cap="flat" cmpd="sng" w="22850">
            <a:solidFill>
              <a:srgbClr val="60646A"/>
            </a:solidFill>
            <a:prstDash val="solid"/>
            <a:round/>
            <a:headEnd len="sm" w="sm" type="none"/>
            <a:tailEnd len="sm" w="sm" type="none"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449" y="3281243"/>
            <a:ext cx="91440" cy="266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39297" y="3493651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Non-blocking I/O</a:t>
            </a:r>
            <a:endParaRPr b="0" i="0" sz="1950" u="none" cap="none" strike="noStrike"/>
          </a:p>
        </p:txBody>
      </p:sp>
      <p:sp>
        <p:nvSpPr>
          <p:cNvPr id="77" name="Google Shape;77;p15"/>
          <p:cNvSpPr/>
          <p:nvPr/>
        </p:nvSpPr>
        <p:spPr>
          <a:xfrm>
            <a:off x="1039297" y="3919061"/>
            <a:ext cx="3751421" cy="181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Node.js uses a non-blocking, event-driven architecture, making it ideal for I/O-heavy applications like real-time communication tools and data streaming services. It can handle many concurrent connections efficiently.</a:t>
            </a:r>
            <a:endParaRPr b="0" i="0" sz="1450" u="none" cap="none" strike="noStrike"/>
          </a:p>
        </p:txBody>
      </p:sp>
      <p:sp>
        <p:nvSpPr>
          <p:cNvPr id="78" name="Google Shape;78;p15"/>
          <p:cNvSpPr/>
          <p:nvPr/>
        </p:nvSpPr>
        <p:spPr>
          <a:xfrm>
            <a:off x="5192673" y="3281243"/>
            <a:ext cx="4244935" cy="2669738"/>
          </a:xfrm>
          <a:prstGeom prst="roundRect">
            <a:avLst>
              <a:gd fmla="val 4110" name="adj"/>
            </a:avLst>
          </a:prstGeom>
          <a:noFill/>
          <a:ln cap="flat" cmpd="sng" w="22850">
            <a:solidFill>
              <a:srgbClr val="60646A"/>
            </a:solidFill>
            <a:prstDash val="solid"/>
            <a:round/>
            <a:headEnd len="sm" w="sm" type="none"/>
            <a:tailEnd len="sm" w="sm" type="none"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9813" y="3281243"/>
            <a:ext cx="91440" cy="266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5473660" y="3493651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High Performance</a:t>
            </a:r>
            <a:endParaRPr b="0" i="0" sz="195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5473660" y="3919061"/>
            <a:ext cx="3751540" cy="181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Leveraging the V8 engine, Node.js compiles JavaScript directly to machine code, resulting in exceptional execution speed. This performance is crucial for applications demanding low latency and high throughput.</a:t>
            </a:r>
            <a:endParaRPr b="0" i="0" sz="1450" u="none" cap="none" strike="noStrike"/>
          </a:p>
        </p:txBody>
      </p:sp>
      <p:sp>
        <p:nvSpPr>
          <p:cNvPr id="82" name="Google Shape;82;p15"/>
          <p:cNvSpPr/>
          <p:nvPr/>
        </p:nvSpPr>
        <p:spPr>
          <a:xfrm>
            <a:off x="9627156" y="3281243"/>
            <a:ext cx="4244816" cy="2669738"/>
          </a:xfrm>
          <a:prstGeom prst="roundRect">
            <a:avLst>
              <a:gd fmla="val 4110" name="adj"/>
            </a:avLst>
          </a:prstGeom>
          <a:noFill/>
          <a:ln cap="flat" cmpd="sng" w="22850">
            <a:solidFill>
              <a:srgbClr val="60646A"/>
            </a:solidFill>
            <a:prstDash val="solid"/>
            <a:round/>
            <a:headEnd len="sm" w="sm" type="none"/>
            <a:tailEnd len="sm" w="sm" type="none"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4296" y="3281243"/>
            <a:ext cx="91440" cy="266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9908143" y="3493651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Unified Language</a:t>
            </a:r>
            <a:endParaRPr b="0" i="0" sz="19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9908143" y="3919061"/>
            <a:ext cx="3751421" cy="181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By using JavaScript for both client-side and server-side development, Node.js fosters a more cohesive and efficient development environment, reducing context switching and simplifying code sharing.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758309" y="776168"/>
            <a:ext cx="8116729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900"/>
              <a:buFont typeface="Barlow"/>
              <a:buNone/>
            </a:pPr>
            <a:r>
              <a:rPr b="1" i="0" lang="en-US" sz="39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Setting Up Your Node.js Environment</a:t>
            </a:r>
            <a:endParaRPr b="0" i="0" sz="3900" u="none" cap="none" strike="noStrike"/>
          </a:p>
        </p:txBody>
      </p:sp>
      <p:sp>
        <p:nvSpPr>
          <p:cNvPr id="92" name="Google Shape;92;p16"/>
          <p:cNvSpPr/>
          <p:nvPr/>
        </p:nvSpPr>
        <p:spPr>
          <a:xfrm>
            <a:off x="758309" y="1873568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Installation</a:t>
            </a:r>
            <a:endParaRPr b="0" i="0" sz="195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758309" y="2374821"/>
            <a:ext cx="6325672" cy="121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 simplest way to get Node.js is to download the installer directly from the </a:t>
            </a:r>
            <a:r>
              <a:rPr b="0" i="0" lang="en-US" sz="145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Node.js Official Website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. Choose the LTS (Long Term Support) version for stability in production environments, or the Current version for the latest features.</a:t>
            </a:r>
            <a:endParaRPr b="0" i="0" sz="145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758309" y="3758446"/>
            <a:ext cx="632567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Follow the installer's instructions; it will also install NPM automatically.</a:t>
            </a:r>
            <a:endParaRPr b="0" i="0" sz="145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758309" y="4554498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Verify Installation</a:t>
            </a:r>
            <a:endParaRPr b="0" i="0" sz="1950" u="none" cap="none" strike="noStrike"/>
          </a:p>
        </p:txBody>
      </p:sp>
      <p:sp>
        <p:nvSpPr>
          <p:cNvPr id="96" name="Google Shape;96;p16"/>
          <p:cNvSpPr/>
          <p:nvPr/>
        </p:nvSpPr>
        <p:spPr>
          <a:xfrm>
            <a:off x="758309" y="5055751"/>
            <a:ext cx="6325672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Open your terminal or command prompt and run:</a:t>
            </a:r>
            <a:endParaRPr b="0" i="0" sz="1450" u="none" cap="none" strike="noStrike"/>
          </a:p>
        </p:txBody>
      </p:sp>
      <p:sp>
        <p:nvSpPr>
          <p:cNvPr id="97" name="Google Shape;97;p16"/>
          <p:cNvSpPr/>
          <p:nvPr/>
        </p:nvSpPr>
        <p:spPr>
          <a:xfrm>
            <a:off x="758309" y="5572244"/>
            <a:ext cx="6325672" cy="890826"/>
          </a:xfrm>
          <a:prstGeom prst="roundRect">
            <a:avLst>
              <a:gd fmla="val 19153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748903" y="5572244"/>
            <a:ext cx="6344483" cy="890826"/>
          </a:xfrm>
          <a:prstGeom prst="roundRect">
            <a:avLst>
              <a:gd fmla="val 3192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938451" y="5714405"/>
            <a:ext cx="5965388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highlight>
                  <a:srgbClr val="35393F"/>
                </a:highlight>
                <a:latin typeface="Consolas"/>
                <a:ea typeface="Consolas"/>
                <a:cs typeface="Consolas"/>
                <a:sym typeface="Consolas"/>
              </a:rPr>
              <a:t>node --versionnpm --version</a:t>
            </a:r>
            <a:endParaRPr b="0" i="0" sz="145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758309" y="6676311"/>
            <a:ext cx="632567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You should see the installed versions printed, confirming a successful setup.</a:t>
            </a:r>
            <a:endParaRPr b="0" i="0" sz="1450" u="none" cap="none" strike="noStrike"/>
          </a:p>
        </p:txBody>
      </p:sp>
      <p:sp>
        <p:nvSpPr>
          <p:cNvPr id="101" name="Google Shape;101;p16"/>
          <p:cNvSpPr/>
          <p:nvPr/>
        </p:nvSpPr>
        <p:spPr>
          <a:xfrm>
            <a:off x="7554039" y="1873568"/>
            <a:ext cx="2617827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Running a Simple Script</a:t>
            </a:r>
            <a:endParaRPr b="0" i="0" sz="195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7554039" y="2374821"/>
            <a:ext cx="6325672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Create a file named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hello.js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with the following content:</a:t>
            </a:r>
            <a:endParaRPr b="0" i="0" sz="145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7554039" y="2891314"/>
            <a:ext cx="6325672" cy="587573"/>
          </a:xfrm>
          <a:prstGeom prst="roundRect">
            <a:avLst>
              <a:gd fmla="val 29038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7544633" y="2891314"/>
            <a:ext cx="6344483" cy="587573"/>
          </a:xfrm>
          <a:prstGeom prst="roundRect">
            <a:avLst>
              <a:gd fmla="val 4840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7734181" y="3033474"/>
            <a:ext cx="5965388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highlight>
                  <a:srgbClr val="35393F"/>
                </a:highlight>
                <a:latin typeface="Consolas"/>
                <a:ea typeface="Consolas"/>
                <a:cs typeface="Consolas"/>
                <a:sym typeface="Consolas"/>
              </a:rPr>
              <a:t>console.log("Hello, Node.js!");</a:t>
            </a:r>
            <a:endParaRPr b="0" i="0" sz="14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7554039" y="3692128"/>
            <a:ext cx="6325672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Execute the script from your terminal:</a:t>
            </a:r>
            <a:endParaRPr b="0" i="0" sz="145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7554039" y="4208621"/>
            <a:ext cx="6325672" cy="587573"/>
          </a:xfrm>
          <a:prstGeom prst="roundRect">
            <a:avLst>
              <a:gd fmla="val 29038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7544633" y="4208621"/>
            <a:ext cx="6344483" cy="587573"/>
          </a:xfrm>
          <a:prstGeom prst="roundRect">
            <a:avLst>
              <a:gd fmla="val 4840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7734181" y="4350782"/>
            <a:ext cx="5965388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highlight>
                  <a:srgbClr val="35393F"/>
                </a:highlight>
                <a:latin typeface="Consolas"/>
                <a:ea typeface="Consolas"/>
                <a:cs typeface="Consolas"/>
                <a:sym typeface="Consolas"/>
              </a:rPr>
              <a:t>node hello.js</a:t>
            </a:r>
            <a:endParaRPr b="0" i="0" sz="145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7554039" y="5009436"/>
            <a:ext cx="6325672" cy="909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This simple exercise demonstrates how Node.js executes JavaScript files directly from the command line, an essential skill for server-side development.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758309" y="1758910"/>
            <a:ext cx="6956822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900"/>
              <a:buFont typeface="Barlow"/>
              <a:buNone/>
            </a:pPr>
            <a:r>
              <a:rPr b="1" i="0" lang="en-US" sz="39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Understanding Node.js Modules</a:t>
            </a:r>
            <a:endParaRPr b="0" i="0" sz="390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758309" y="2761536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Modules are reusable blocks of code that encapsulate related functionality. They help organize code, prevent naming conflicts, and promote modularity, making applications easier to manage and scale.</a:t>
            </a:r>
            <a:endParaRPr b="0" i="0" sz="145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758309" y="3581281"/>
            <a:ext cx="4276487" cy="568643"/>
          </a:xfrm>
          <a:prstGeom prst="roundRect">
            <a:avLst>
              <a:gd fmla="val 480080" name="adj"/>
            </a:avLst>
          </a:prstGeom>
          <a:solidFill>
            <a:srgbClr val="282C32"/>
          </a:solidFill>
          <a:ln>
            <a:noFill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754392" y="3687842"/>
            <a:ext cx="284321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0" i="0" sz="220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947857" y="4339471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Built-in Modules</a:t>
            </a:r>
            <a:endParaRPr b="0" i="0" sz="1950" u="none" cap="none" strike="noStrike"/>
          </a:p>
        </p:txBody>
      </p:sp>
      <p:sp>
        <p:nvSpPr>
          <p:cNvPr id="121" name="Google Shape;121;p17"/>
          <p:cNvSpPr/>
          <p:nvPr/>
        </p:nvSpPr>
        <p:spPr>
          <a:xfrm>
            <a:off x="947857" y="4764881"/>
            <a:ext cx="3897392" cy="121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These are pre-compiled modules provided by Node.js, such as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(File System),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http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path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. They offer core functionalities for building applications.</a:t>
            </a:r>
            <a:endParaRPr b="0" i="0" sz="145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5176957" y="3581281"/>
            <a:ext cx="4276487" cy="568643"/>
          </a:xfrm>
          <a:prstGeom prst="roundRect">
            <a:avLst>
              <a:gd fmla="val 480080" name="adj"/>
            </a:avLst>
          </a:prstGeom>
          <a:solidFill>
            <a:srgbClr val="282C32"/>
          </a:solidFill>
          <a:ln>
            <a:noFill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7173039" y="3687842"/>
            <a:ext cx="284321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0" i="0" sz="22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5366504" y="4339471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Third-Party Modules</a:t>
            </a:r>
            <a:endParaRPr b="0" i="0" sz="195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5366504" y="4764881"/>
            <a:ext cx="3897392" cy="121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Published on NPM, these modules extend Node.js capabilities. Examples include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Express.js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for web frameworks or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Mongoose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for MongoDB interaction.</a:t>
            </a:r>
            <a:endParaRPr b="0" i="0" sz="145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9595604" y="3581281"/>
            <a:ext cx="4276487" cy="568643"/>
          </a:xfrm>
          <a:prstGeom prst="roundRect">
            <a:avLst>
              <a:gd fmla="val 480080" name="adj"/>
            </a:avLst>
          </a:prstGeom>
          <a:solidFill>
            <a:srgbClr val="282C32"/>
          </a:solidFill>
          <a:ln>
            <a:noFill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11591687" y="3687842"/>
            <a:ext cx="284321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0" i="0" sz="220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9785152" y="4339471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Custom Modules</a:t>
            </a:r>
            <a:endParaRPr b="0" i="0" sz="195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9785152" y="4764881"/>
            <a:ext cx="3897392" cy="1516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Developers can create their own modules to encapsulate specific application logic, making it reusable across different parts of a project or even in other projects.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758309" y="844391"/>
            <a:ext cx="9373910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900"/>
              <a:buFont typeface="Barlow"/>
              <a:buNone/>
            </a:pPr>
            <a:r>
              <a:rPr b="1" i="0" lang="en-US" sz="39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Working with File Systems: The `fs` Module</a:t>
            </a:r>
            <a:endParaRPr b="0" i="0" sz="3900" u="none" cap="none" strike="noStrike"/>
          </a:p>
        </p:txBody>
      </p:sp>
      <p:sp>
        <p:nvSpPr>
          <p:cNvPr id="136" name="Google Shape;136;p18"/>
          <p:cNvSpPr/>
          <p:nvPr/>
        </p:nvSpPr>
        <p:spPr>
          <a:xfrm>
            <a:off x="758309" y="1847017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 Node.js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(File System) module provides an API for interacting with the file system in a way similar to standard POSIX functions. It offers both synchronous and asynchronous methods. Asynchronous methods are generally preferred for non-blocking operations.</a:t>
            </a:r>
            <a:endParaRPr b="0" i="0" sz="145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758309" y="2856309"/>
            <a:ext cx="2627590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Example: Reading a File</a:t>
            </a:r>
            <a:endParaRPr b="0" i="0" sz="195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758309" y="3381256"/>
            <a:ext cx="7004447" cy="3013591"/>
          </a:xfrm>
          <a:prstGeom prst="roundRect">
            <a:avLst>
              <a:gd fmla="val 5662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748903" y="3381256"/>
            <a:ext cx="7023259" cy="3013591"/>
          </a:xfrm>
          <a:prstGeom prst="roundRect">
            <a:avLst>
              <a:gd fmla="val 944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938451" y="3523417"/>
            <a:ext cx="6644164" cy="272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highlight>
                  <a:srgbClr val="35393F"/>
                </a:highlight>
                <a:latin typeface="Consolas"/>
                <a:ea typeface="Consolas"/>
                <a:cs typeface="Consolas"/>
                <a:sym typeface="Consolas"/>
              </a:rPr>
              <a:t>const fs = require('fs');fs.readFile('example.txt', 'utf8', (err, data) =&gt; {  if (err) {    console.error('Error reading file:', err);    return;  }  console.log('File content:', data);});</a:t>
            </a:r>
            <a:endParaRPr b="0" i="0" sz="145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758309" y="6608088"/>
            <a:ext cx="7004447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This code attempts to read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example.txt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asynchronously. The callback function handles either an error or the file's content.</a:t>
            </a:r>
            <a:endParaRPr b="0" i="0" sz="145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8232815" y="2856309"/>
            <a:ext cx="2628900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Common `fs` Operations</a:t>
            </a:r>
            <a:endParaRPr b="0" i="0" sz="195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8232815" y="3357563"/>
            <a:ext cx="5646777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fs.writeFile()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Writes data to a file.</a:t>
            </a:r>
            <a:endParaRPr b="0" i="0" sz="145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8232815" y="3727133"/>
            <a:ext cx="5646777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fs.appendFile()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Appends data to a file.</a:t>
            </a:r>
            <a:endParaRPr b="0" i="0" sz="145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8232815" y="4096703"/>
            <a:ext cx="5646777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fs.unlink()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Deletes a file.</a:t>
            </a:r>
            <a:endParaRPr b="0" i="0" sz="145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8232815" y="4466273"/>
            <a:ext cx="5646777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fs.mkdir()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Creates a directory.</a:t>
            </a:r>
            <a:endParaRPr b="0" i="0" sz="14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8232815" y="4835843"/>
            <a:ext cx="5646777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fs.rmdir()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Removes a directory.</a:t>
            </a:r>
            <a:endParaRPr b="0" i="0" sz="145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8232815" y="5309711"/>
            <a:ext cx="5646777" cy="909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Each of these operations typically comes in both synchronous and asynchronous forms, with the asynchronous versions being non-blocking.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758309" y="1135261"/>
            <a:ext cx="6634520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900"/>
              <a:buFont typeface="Barlow"/>
              <a:buNone/>
            </a:pPr>
            <a:r>
              <a:rPr b="1" i="0" lang="en-US" sz="39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Building a Simple HTTP Server</a:t>
            </a:r>
            <a:endParaRPr b="0" i="0" sz="390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758309" y="2137886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Node.js's built-in </a:t>
            </a: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http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module enables you to create web servers without needing external libraries. This fundamental capability is what powers many Node.js web applications, from simple APIs to complex server-side rendering.</a:t>
            </a:r>
            <a:endParaRPr b="0" i="0" sz="1450" u="none" cap="none" strike="noStrike"/>
          </a:p>
        </p:txBody>
      </p:sp>
      <p:sp>
        <p:nvSpPr>
          <p:cNvPr id="156" name="Google Shape;156;p19"/>
          <p:cNvSpPr/>
          <p:nvPr/>
        </p:nvSpPr>
        <p:spPr>
          <a:xfrm>
            <a:off x="758309" y="2957632"/>
            <a:ext cx="13113782" cy="3316843"/>
          </a:xfrm>
          <a:prstGeom prst="roundRect">
            <a:avLst>
              <a:gd fmla="val 5144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748903" y="2957632"/>
            <a:ext cx="13132594" cy="3316843"/>
          </a:xfrm>
          <a:prstGeom prst="roundRect">
            <a:avLst>
              <a:gd fmla="val 857" name="adj"/>
            </a:avLst>
          </a:prstGeom>
          <a:solidFill>
            <a:srgbClr val="353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938451" y="3099792"/>
            <a:ext cx="12753499" cy="3032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highlight>
                  <a:srgbClr val="35393F"/>
                </a:highlight>
                <a:latin typeface="Consolas"/>
                <a:ea typeface="Consolas"/>
                <a:cs typeface="Consolas"/>
                <a:sym typeface="Consolas"/>
              </a:rPr>
              <a:t>const http = require('http');const server = http.createServer((req, res) =&gt; {  res.writeHead(200, { 'Content-Type': 'text/plain' });  res.end('Hello from Node.js Server!');});server.listen(3000, () =&gt; {  console.log('Server running on http://localhost:3000');});</a:t>
            </a:r>
            <a:endParaRPr b="0" i="0" sz="145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758309" y="6487716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This code creates a server that listens on port 3000. When accessed, it responds with "Hello from Node.js Server!". You can test this by navigating to </a:t>
            </a:r>
            <a:r>
              <a:rPr b="0" i="0" lang="en-US" sz="145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http://localhost:3000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in your browser or using `curl http://localhost:3000` in your terminal.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717113" y="493038"/>
            <a:ext cx="9449633" cy="589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700"/>
              <a:buFont typeface="Barlow"/>
              <a:buNone/>
            </a:pPr>
            <a:r>
              <a:rPr b="1" i="0" lang="en-US" sz="37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Introduction to NPM (Node Package Manager)</a:t>
            </a:r>
            <a:endParaRPr b="0" i="0" sz="3700" u="none" cap="none" strike="noStrike"/>
          </a:p>
        </p:txBody>
      </p:sp>
      <p:sp>
        <p:nvSpPr>
          <p:cNvPr id="166" name="Google Shape;166;p20"/>
          <p:cNvSpPr/>
          <p:nvPr/>
        </p:nvSpPr>
        <p:spPr>
          <a:xfrm>
            <a:off x="717113" y="1530787"/>
            <a:ext cx="235898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850"/>
              <a:buFont typeface="Barlow"/>
              <a:buNone/>
            </a:pPr>
            <a:r>
              <a:rPr b="1" i="0" lang="en-US" sz="18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What is NPM?</a:t>
            </a:r>
            <a:endParaRPr b="0" i="0" sz="1850" u="none" cap="none" strike="noStrike"/>
          </a:p>
        </p:txBody>
      </p:sp>
      <p:sp>
        <p:nvSpPr>
          <p:cNvPr id="167" name="Google Shape;167;p20"/>
          <p:cNvSpPr/>
          <p:nvPr/>
        </p:nvSpPr>
        <p:spPr>
          <a:xfrm>
            <a:off x="717113" y="2004774"/>
            <a:ext cx="6379369" cy="143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NPM is the default package manager for Node.js, and the largest software registry in the world. It provides command-line tools to install, manage, and share Node.js packages (modules). NPM is crucial for managing project dependencies and collaborating within the Node.js ecosystem.</a:t>
            </a:r>
            <a:endParaRPr b="0" i="0" sz="1400" u="none" cap="none" strike="noStrike"/>
          </a:p>
        </p:txBody>
      </p:sp>
      <p:sp>
        <p:nvSpPr>
          <p:cNvPr id="168" name="Google Shape;168;p20"/>
          <p:cNvSpPr/>
          <p:nvPr/>
        </p:nvSpPr>
        <p:spPr>
          <a:xfrm>
            <a:off x="717113" y="3618071"/>
            <a:ext cx="235898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1850"/>
              <a:buFont typeface="Barlow"/>
              <a:buNone/>
            </a:pPr>
            <a:r>
              <a:rPr b="1" i="0" lang="en-US" sz="18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Key NPM Commands</a:t>
            </a:r>
            <a:endParaRPr b="0" i="0" sz="1850" u="none" cap="none" strike="noStrike"/>
          </a:p>
        </p:txBody>
      </p:sp>
      <p:sp>
        <p:nvSpPr>
          <p:cNvPr id="169" name="Google Shape;169;p20"/>
          <p:cNvSpPr/>
          <p:nvPr/>
        </p:nvSpPr>
        <p:spPr>
          <a:xfrm>
            <a:off x="717113" y="4092059"/>
            <a:ext cx="6379369" cy="28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npm init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Creates a </a:t>
            </a: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package.json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file.</a:t>
            </a:r>
            <a:endParaRPr b="0" i="0" sz="1400" u="none" cap="none" strike="noStrike"/>
          </a:p>
        </p:txBody>
      </p:sp>
      <p:sp>
        <p:nvSpPr>
          <p:cNvPr id="170" name="Google Shape;170;p20"/>
          <p:cNvSpPr/>
          <p:nvPr/>
        </p:nvSpPr>
        <p:spPr>
          <a:xfrm>
            <a:off x="717113" y="4441627"/>
            <a:ext cx="6379369" cy="28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npm install [package]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Installs a package.</a:t>
            </a:r>
            <a:endParaRPr b="0" i="0" sz="1400" u="none" cap="none" strike="noStrike"/>
          </a:p>
        </p:txBody>
      </p:sp>
      <p:sp>
        <p:nvSpPr>
          <p:cNvPr id="171" name="Google Shape;171;p20"/>
          <p:cNvSpPr/>
          <p:nvPr/>
        </p:nvSpPr>
        <p:spPr>
          <a:xfrm>
            <a:off x="717113" y="4791194"/>
            <a:ext cx="6379369" cy="28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npm uninstall [package]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Uninstalls a package.</a:t>
            </a:r>
            <a:endParaRPr b="0" i="0" sz="140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717113" y="5140762"/>
            <a:ext cx="6379369" cy="28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npm update [package]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Updates a package.</a:t>
            </a:r>
            <a:endParaRPr b="0" i="0" sz="140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717113" y="5490329"/>
            <a:ext cx="6379369" cy="28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npm start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: Runs the "start" script defined in </a:t>
            </a:r>
            <a:r>
              <a:rPr b="1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package.json</a:t>
            </a:r>
            <a:r>
              <a:rPr b="0" i="0" lang="en-US" sz="14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400" u="none" cap="none" strike="noStrike"/>
          </a:p>
        </p:txBody>
      </p:sp>
      <p:pic>
        <p:nvPicPr>
          <p:cNvPr descr="preencoded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1538" y="1553289"/>
            <a:ext cx="6379369" cy="6379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758309" y="1899047"/>
            <a:ext cx="6318290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3900"/>
              <a:buFont typeface="Barlow"/>
              <a:buNone/>
            </a:pPr>
            <a:r>
              <a:rPr b="1" i="0" lang="en-US" sz="39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Key Takeaways &amp; Next Steps</a:t>
            </a:r>
            <a:endParaRPr b="0" i="0" sz="3900" u="none" cap="none" strike="noStrike"/>
          </a:p>
        </p:txBody>
      </p:sp>
      <p:sp>
        <p:nvSpPr>
          <p:cNvPr id="181" name="Google Shape;181;p21"/>
          <p:cNvSpPr/>
          <p:nvPr/>
        </p:nvSpPr>
        <p:spPr>
          <a:xfrm>
            <a:off x="758309" y="3185993"/>
            <a:ext cx="4244816" cy="2324695"/>
          </a:xfrm>
          <a:prstGeom prst="roundRect">
            <a:avLst>
              <a:gd fmla="val 4720" name="adj"/>
            </a:avLst>
          </a:prstGeom>
          <a:noFill/>
          <a:ln>
            <a:noFill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309" y="3163133"/>
            <a:ext cx="4244816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6396" y="2901672"/>
            <a:ext cx="568643" cy="568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7013" y="3043833"/>
            <a:ext cx="227409" cy="28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/>
          <p:nvPr/>
        </p:nvSpPr>
        <p:spPr>
          <a:xfrm>
            <a:off x="970717" y="3659862"/>
            <a:ext cx="2547818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Fundamental Concepts</a:t>
            </a:r>
            <a:endParaRPr b="0" i="0" sz="1950" u="none" cap="none" strike="noStrike"/>
          </a:p>
        </p:txBody>
      </p:sp>
      <p:sp>
        <p:nvSpPr>
          <p:cNvPr id="186" name="Google Shape;186;p21"/>
          <p:cNvSpPr/>
          <p:nvPr/>
        </p:nvSpPr>
        <p:spPr>
          <a:xfrm>
            <a:off x="970717" y="4085273"/>
            <a:ext cx="3820001" cy="121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You now understand Node.js as a server-side JavaScript runtime, its non-blocking architecture, and the importance of modules.</a:t>
            </a:r>
            <a:endParaRPr b="0" i="0" sz="1450" u="none" cap="none" strike="noStrike"/>
          </a:p>
        </p:txBody>
      </p:sp>
      <p:sp>
        <p:nvSpPr>
          <p:cNvPr id="187" name="Google Shape;187;p21"/>
          <p:cNvSpPr/>
          <p:nvPr/>
        </p:nvSpPr>
        <p:spPr>
          <a:xfrm>
            <a:off x="5192673" y="3185993"/>
            <a:ext cx="4244935" cy="2324695"/>
          </a:xfrm>
          <a:prstGeom prst="roundRect">
            <a:avLst>
              <a:gd fmla="val 4720" name="adj"/>
            </a:avLst>
          </a:prstGeom>
          <a:noFill/>
          <a:ln>
            <a:noFill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673" y="3163133"/>
            <a:ext cx="424493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0760" y="2901672"/>
            <a:ext cx="568643" cy="568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1376" y="3043833"/>
            <a:ext cx="227409" cy="28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5405080" y="3659862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Practical Skills</a:t>
            </a:r>
            <a:endParaRPr b="0" i="0" sz="1950" u="none" cap="none" strike="noStrike"/>
          </a:p>
        </p:txBody>
      </p:sp>
      <p:sp>
        <p:nvSpPr>
          <p:cNvPr id="192" name="Google Shape;192;p21"/>
          <p:cNvSpPr/>
          <p:nvPr/>
        </p:nvSpPr>
        <p:spPr>
          <a:xfrm>
            <a:off x="5405080" y="4085273"/>
            <a:ext cx="3820120" cy="121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You've learned to set up your environment, run basic scripts, interact with the file system, and create a simple HTTP server.</a:t>
            </a:r>
            <a:endParaRPr b="0" i="0" sz="1450" u="none" cap="none" strike="noStrike"/>
          </a:p>
        </p:txBody>
      </p:sp>
      <p:sp>
        <p:nvSpPr>
          <p:cNvPr id="193" name="Google Shape;193;p21"/>
          <p:cNvSpPr/>
          <p:nvPr/>
        </p:nvSpPr>
        <p:spPr>
          <a:xfrm>
            <a:off x="9627156" y="3185993"/>
            <a:ext cx="4244816" cy="2324695"/>
          </a:xfrm>
          <a:prstGeom prst="roundRect">
            <a:avLst>
              <a:gd fmla="val 4720" name="adj"/>
            </a:avLst>
          </a:prstGeom>
          <a:noFill/>
          <a:ln>
            <a:noFill/>
          </a:ln>
          <a:effectLst>
            <a:outerShdw blurRad="46990" rotWithShape="0" algn="bl" dir="13500000" dist="22860">
              <a:srgbClr val="FFFFFF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7156" y="3163133"/>
            <a:ext cx="4244816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5243" y="2901672"/>
            <a:ext cx="568643" cy="568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35859" y="3043833"/>
            <a:ext cx="227409" cy="28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9839563" y="3659862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Ecosystem Awareness</a:t>
            </a:r>
            <a:endParaRPr b="0" i="0" sz="195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9839563" y="4085273"/>
            <a:ext cx="3820001" cy="909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You've been introduced to NPM, the gateway to a vast collection of reusable Node.js packages.</a:t>
            </a:r>
            <a:endParaRPr b="0" i="0" sz="1450" u="none" cap="none" strike="noStrike"/>
          </a:p>
        </p:txBody>
      </p:sp>
      <p:sp>
        <p:nvSpPr>
          <p:cNvPr id="199" name="Google Shape;199;p21"/>
          <p:cNvSpPr/>
          <p:nvPr/>
        </p:nvSpPr>
        <p:spPr>
          <a:xfrm>
            <a:off x="758309" y="5723930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450"/>
              <a:buFont typeface="Montserrat"/>
              <a:buNone/>
            </a:pPr>
            <a:r>
              <a:rPr b="1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Next Steps:</a:t>
            </a:r>
            <a:r>
              <a:rPr b="0" i="0" lang="en-US" sz="145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Explore frameworks like Express.js, delve deeper into asynchronous programming with Promises and Async/Await, and build your first REST API.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